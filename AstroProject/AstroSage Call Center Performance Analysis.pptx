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9" r:id="rId10"/>
    <p:sldId id="271" r:id="rId11"/>
    <p:sldId id="273" r:id="rId12"/>
    <p:sldId id="275" r:id="rId13"/>
    <p:sldId id="277" r:id="rId14"/>
    <p:sldId id="278" r:id="rId15"/>
    <p:sldId id="279" r:id="rId16"/>
    <p:sldId id="280" r:id="rId17"/>
    <p:sldId id="281" r:id="rId18"/>
    <p:sldId id="283" r:id="rId19"/>
    <p:sldId id="284" r:id="rId20"/>
    <p:sldId id="286" r:id="rId21"/>
    <p:sldId id="28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5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esktop\AstroProject\Template%20(Astrosage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(Astrosage).xlsx]PivotData!PT_CSATMonth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CSAT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PivotData!$Q$1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PivotData!$P$2:$P$3</c:f>
              <c:strCache>
                <c:ptCount val="1"/>
                <c:pt idx="0">
                  <c:v>January</c:v>
                </c:pt>
              </c:strCache>
            </c:strRef>
          </c:cat>
          <c:val>
            <c:numRef>
              <c:f>PivotData!$Q$2:$Q$3</c:f>
              <c:numCache>
                <c:formatCode>General</c:formatCode>
                <c:ptCount val="1"/>
                <c:pt idx="0">
                  <c:v>3.4895833333333335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21-4AF9-ACF0-9C68BF1BD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724432"/>
        <c:axId val="359619184"/>
      </c:lineChart>
      <c:catAx>
        <c:axId val="4117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19184"/>
        <c:crosses val="autoZero"/>
        <c:auto val="1"/>
        <c:lblAlgn val="ctr"/>
        <c:lblOffset val="100"/>
        <c:noMultiLvlLbl val="0"/>
      </c:catAx>
      <c:valAx>
        <c:axId val="35961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2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(Astrosage).xlsx]PivotData!PT_HourDist_New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Distribution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PivotData!$BI$1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PivotData!$BH$2:$BH$26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PivotData!$BI$2:$BI$26</c:f>
              <c:numCache>
                <c:formatCode>General</c:formatCode>
                <c:ptCount val="24"/>
                <c:pt idx="0">
                  <c:v>18</c:v>
                </c:pt>
                <c:pt idx="1">
                  <c:v>12</c:v>
                </c:pt>
                <c:pt idx="2">
                  <c:v>1</c:v>
                </c:pt>
                <c:pt idx="3">
                  <c:v>8</c:v>
                </c:pt>
                <c:pt idx="4">
                  <c:v>10</c:v>
                </c:pt>
                <c:pt idx="5">
                  <c:v>22</c:v>
                </c:pt>
                <c:pt idx="6">
                  <c:v>11</c:v>
                </c:pt>
                <c:pt idx="7">
                  <c:v>17</c:v>
                </c:pt>
                <c:pt idx="8">
                  <c:v>37</c:v>
                </c:pt>
                <c:pt idx="9">
                  <c:v>13</c:v>
                </c:pt>
                <c:pt idx="10">
                  <c:v>14</c:v>
                </c:pt>
                <c:pt idx="11">
                  <c:v>30</c:v>
                </c:pt>
                <c:pt idx="12">
                  <c:v>17</c:v>
                </c:pt>
                <c:pt idx="13">
                  <c:v>8</c:v>
                </c:pt>
                <c:pt idx="14">
                  <c:v>26</c:v>
                </c:pt>
                <c:pt idx="15">
                  <c:v>45</c:v>
                </c:pt>
                <c:pt idx="16">
                  <c:v>17</c:v>
                </c:pt>
                <c:pt idx="17">
                  <c:v>12</c:v>
                </c:pt>
                <c:pt idx="18">
                  <c:v>6</c:v>
                </c:pt>
                <c:pt idx="19">
                  <c:v>2</c:v>
                </c:pt>
                <c:pt idx="20">
                  <c:v>34</c:v>
                </c:pt>
                <c:pt idx="21">
                  <c:v>10</c:v>
                </c:pt>
                <c:pt idx="22">
                  <c:v>5</c:v>
                </c:pt>
                <c:pt idx="2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1A-4C07-9B2E-091D6EB41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703039"/>
        <c:axId val="83699279"/>
      </c:barChart>
      <c:catAx>
        <c:axId val="125703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699279"/>
        <c:crosses val="autoZero"/>
        <c:auto val="1"/>
        <c:lblAlgn val="ctr"/>
        <c:lblOffset val="100"/>
        <c:noMultiLvlLbl val="0"/>
      </c:catAx>
      <c:valAx>
        <c:axId val="83699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03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(Astrosage).xlsx]PivotData!PT_StatusPie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Status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PivotData!$AI$1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96-4B25-83C6-7A11C43719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B96-4B25-83C6-7A11C43719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B96-4B25-83C6-7A11C43719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B96-4B25-83C6-7A11C43719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B96-4B25-83C6-7A11C43719D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B96-4B25-83C6-7A11C43719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PivotData!$AH$2:$AH$7</c:f>
              <c:strCache>
                <c:ptCount val="5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no-answer</c:v>
                </c:pt>
              </c:strCache>
            </c:strRef>
          </c:cat>
          <c:val>
            <c:numRef>
              <c:f>PivotData!$AI$2:$AI$7</c:f>
              <c:numCache>
                <c:formatCode>General</c:formatCode>
                <c:ptCount val="5"/>
                <c:pt idx="0">
                  <c:v>31</c:v>
                </c:pt>
                <c:pt idx="1">
                  <c:v>128</c:v>
                </c:pt>
                <c:pt idx="2">
                  <c:v>74</c:v>
                </c:pt>
                <c:pt idx="3">
                  <c:v>27</c:v>
                </c:pt>
                <c:pt idx="4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B96-4B25-83C6-7A11C43719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(Astrosage).xlsx]PivotData!PT_CallsGuru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Calls by Guru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PivotData!$K$1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PivotData!$J$2:$J$12</c:f>
              <c:strCache>
                <c:ptCount val="10"/>
                <c:pt idx="0">
                  <c:v>Tarot Gargi</c:v>
                </c:pt>
                <c:pt idx="1">
                  <c:v>Astro Seema</c:v>
                </c:pt>
                <c:pt idx="2">
                  <c:v>Tarot Seema</c:v>
                </c:pt>
                <c:pt idx="3">
                  <c:v>Astro Naksh</c:v>
                </c:pt>
                <c:pt idx="4">
                  <c:v>Dr Balkrisna</c:v>
                </c:pt>
                <c:pt idx="5">
                  <c:v>Tarot Gauri</c:v>
                </c:pt>
                <c:pt idx="6">
                  <c:v>Tarot Surbi</c:v>
                </c:pt>
                <c:pt idx="7">
                  <c:v>Tarot Rupanshi</c:v>
                </c:pt>
                <c:pt idx="8">
                  <c:v>Astro Sree Valli</c:v>
                </c:pt>
                <c:pt idx="9">
                  <c:v>Astro Lakshmi</c:v>
                </c:pt>
              </c:strCache>
            </c:strRef>
          </c:cat>
          <c:val>
            <c:numRef>
              <c:f>PivotData!$K$2:$K$12</c:f>
              <c:numCache>
                <c:formatCode>General</c:formatCode>
                <c:ptCount val="10"/>
                <c:pt idx="0">
                  <c:v>35</c:v>
                </c:pt>
                <c:pt idx="1">
                  <c:v>31</c:v>
                </c:pt>
                <c:pt idx="2">
                  <c:v>28</c:v>
                </c:pt>
                <c:pt idx="3">
                  <c:v>23</c:v>
                </c:pt>
                <c:pt idx="4">
                  <c:v>21</c:v>
                </c:pt>
                <c:pt idx="5">
                  <c:v>20</c:v>
                </c:pt>
                <c:pt idx="6">
                  <c:v>19</c:v>
                </c:pt>
                <c:pt idx="7">
                  <c:v>18</c:v>
                </c:pt>
                <c:pt idx="8">
                  <c:v>17</c:v>
                </c:pt>
                <c:pt idx="9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44-4ACF-AC8B-A9F7F8D00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26752"/>
        <c:axId val="359623984"/>
      </c:barChart>
      <c:catAx>
        <c:axId val="411726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23984"/>
        <c:crosses val="autoZero"/>
        <c:auto val="1"/>
        <c:lblAlgn val="ctr"/>
        <c:lblOffset val="100"/>
        <c:noMultiLvlLbl val="0"/>
      </c:catAx>
      <c:valAx>
        <c:axId val="3596239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2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(Astrosage).xlsx]PivotData!PT_CallsUser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Calls by User 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PivotData!$N$1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PivotData!$M$2:$M$14</c:f>
              <c:strCache>
                <c:ptCount val="12"/>
                <c:pt idx="0">
                  <c:v>6591fad8883c1bbae73e548f</c:v>
                </c:pt>
                <c:pt idx="1">
                  <c:v>656b0a18b8711eaac4592362</c:v>
                </c:pt>
                <c:pt idx="2">
                  <c:v>655c7d3e14e0800c5a2123da</c:v>
                </c:pt>
                <c:pt idx="3">
                  <c:v>6593f1f7883c1bbae7667225</c:v>
                </c:pt>
                <c:pt idx="4">
                  <c:v>659425ca883c1bbae7718e17</c:v>
                </c:pt>
                <c:pt idx="5">
                  <c:v>6592ef86270572b0ca26a3e3</c:v>
                </c:pt>
                <c:pt idx="6">
                  <c:v>656f862003c091f96e81a92e</c:v>
                </c:pt>
                <c:pt idx="7">
                  <c:v>65915647883c1bbae72e557b</c:v>
                </c:pt>
                <c:pt idx="8">
                  <c:v>65947570883c1bbae7809c9a</c:v>
                </c:pt>
                <c:pt idx="9">
                  <c:v>6595c6cc883c1bbae79a6253</c:v>
                </c:pt>
                <c:pt idx="10">
                  <c:v>657ac522b98044c429b61838</c:v>
                </c:pt>
                <c:pt idx="11">
                  <c:v>65942f1a883c1bbae774db95</c:v>
                </c:pt>
              </c:strCache>
            </c:strRef>
          </c:cat>
          <c:val>
            <c:numRef>
              <c:f>PivotData!$N$2:$N$14</c:f>
              <c:numCache>
                <c:formatCode>General</c:formatCode>
                <c:ptCount val="12"/>
                <c:pt idx="0">
                  <c:v>32</c:v>
                </c:pt>
                <c:pt idx="1">
                  <c:v>23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4-40D1-B26C-536764F2D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35104"/>
        <c:axId val="359621584"/>
      </c:barChart>
      <c:catAx>
        <c:axId val="411735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21584"/>
        <c:crosses val="autoZero"/>
        <c:auto val="1"/>
        <c:lblAlgn val="ctr"/>
        <c:lblOffset val="100"/>
        <c:noMultiLvlLbl val="0"/>
      </c:catAx>
      <c:valAx>
        <c:axId val="359621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35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(Astrosage).xlsx]PivotData!PT_ConsPie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Consultation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PivotData!$T$1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C73-40CC-9299-6F5867EAC2E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73-40CC-9299-6F5867EAC2E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73-40CC-9299-6F5867EAC2E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C73-40CC-9299-6F5867EAC2E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PivotData!$S$2:$S$3</c:f>
              <c:strCache>
                <c:ptCount val="1"/>
                <c:pt idx="0">
                  <c:v>Call</c:v>
                </c:pt>
              </c:strCache>
            </c:strRef>
          </c:cat>
          <c:val>
            <c:numRef>
              <c:f>PivotData!$T$2:$T$3</c:f>
              <c:numCache>
                <c:formatCode>General</c:formatCode>
                <c:ptCount val="1"/>
                <c:pt idx="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73-40CC-9299-6F5867EAC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(Astrosage).xlsx]PivotData!PT_DailyVol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Call Volume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PivotData!$B$3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PivotData!$A$4:$A$7</c:f>
              <c:strCache>
                <c:ptCount val="3"/>
                <c:pt idx="0">
                  <c:v>2024-01-01</c:v>
                </c:pt>
                <c:pt idx="1">
                  <c:v>2024-01-02</c:v>
                </c:pt>
                <c:pt idx="2">
                  <c:v>2024-01-03</c:v>
                </c:pt>
              </c:strCache>
            </c:strRef>
          </c:cat>
          <c:val>
            <c:numRef>
              <c:f>PivotData!$B$4:$B$7</c:f>
              <c:numCache>
                <c:formatCode>General</c:formatCode>
                <c:ptCount val="3"/>
                <c:pt idx="0">
                  <c:v>105</c:v>
                </c:pt>
                <c:pt idx="1">
                  <c:v>182</c:v>
                </c:pt>
                <c:pt idx="2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CA-42A4-8872-27C0637A2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707728"/>
        <c:axId val="359632624"/>
      </c:lineChart>
      <c:catAx>
        <c:axId val="411707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32624"/>
        <c:crosses val="autoZero"/>
        <c:auto val="1"/>
        <c:lblAlgn val="ctr"/>
        <c:lblOffset val="100"/>
        <c:noMultiLvlLbl val="0"/>
      </c:catAx>
      <c:valAx>
        <c:axId val="35963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07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(Astrosage).xlsx]PivotData!PT_MonthlyVol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Call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PivotData!$E$1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PivotData!$D$2:$D$3</c:f>
              <c:strCache>
                <c:ptCount val="1"/>
                <c:pt idx="0">
                  <c:v>January</c:v>
                </c:pt>
              </c:strCache>
            </c:strRef>
          </c:cat>
          <c:val>
            <c:numRef>
              <c:f>PivotData!$E$2:$E$3</c:f>
              <c:numCache>
                <c:formatCode>General</c:formatCode>
                <c:ptCount val="1"/>
                <c:pt idx="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65-4ABC-AA53-669F137F8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09120"/>
        <c:axId val="359631184"/>
      </c:barChart>
      <c:catAx>
        <c:axId val="41170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31184"/>
        <c:crosses val="autoZero"/>
        <c:auto val="1"/>
        <c:lblAlgn val="ctr"/>
        <c:lblOffset val="100"/>
        <c:noMultiLvlLbl val="0"/>
      </c:catAx>
      <c:valAx>
        <c:axId val="359631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09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(Astrosage).xlsx]PivotData!PT_OpCost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 Cost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PivotData!$W$1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PivotData!$V$2:$V$3</c:f>
              <c:strCache>
                <c:ptCount val="1"/>
                <c:pt idx="0">
                  <c:v>January</c:v>
                </c:pt>
              </c:strCache>
            </c:strRef>
          </c:cat>
          <c:val>
            <c:numRef>
              <c:f>PivotData!$W$2:$W$3</c:f>
              <c:numCache>
                <c:formatCode>General</c:formatCode>
                <c:ptCount val="1"/>
                <c:pt idx="0">
                  <c:v>2646.0583333333325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C-4FC1-B863-C745A5E3F8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34176"/>
        <c:axId val="359633104"/>
      </c:barChart>
      <c:catAx>
        <c:axId val="41173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33104"/>
        <c:crosses val="autoZero"/>
        <c:auto val="1"/>
        <c:lblAlgn val="ctr"/>
        <c:lblOffset val="100"/>
        <c:noMultiLvlLbl val="0"/>
      </c:catAx>
      <c:valAx>
        <c:axId val="359633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34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(Astrosage).xlsx]PivotData!PT_RateGuru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Rating-wise Guru Dist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268885842704704"/>
          <c:y val="0.16060150033525569"/>
          <c:w val="0.8434780524971176"/>
          <c:h val="0.586724688195950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PivotData!$AO$1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PivotData!$AN$2:$AN$6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PivotData!$AO$2:$AO$6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98</c:v>
                </c:pt>
                <c:pt idx="3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58-440A-A6B5-5DC66D62B5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44848"/>
        <c:axId val="359626384"/>
      </c:barChart>
      <c:catAx>
        <c:axId val="411744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26384"/>
        <c:crosses val="autoZero"/>
        <c:auto val="1"/>
        <c:lblAlgn val="ctr"/>
        <c:lblOffset val="100"/>
        <c:noMultiLvlLbl val="0"/>
      </c:catAx>
      <c:valAx>
        <c:axId val="359626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44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(Astrosage).xlsx]PivotData!PT_RateUser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Rating-wise User Dist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PivotData!$AL$1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PivotData!$AK$2:$AK$6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PivotData!$AL$2:$AL$6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98</c:v>
                </c:pt>
                <c:pt idx="3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F8-49A9-BFD5-7E81C5BFF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44384"/>
        <c:axId val="359625424"/>
      </c:barChart>
      <c:catAx>
        <c:axId val="41174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25424"/>
        <c:crosses val="autoZero"/>
        <c:auto val="1"/>
        <c:lblAlgn val="ctr"/>
        <c:lblOffset val="100"/>
        <c:noMultiLvlLbl val="0"/>
      </c:catAx>
      <c:valAx>
        <c:axId val="35962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4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(Astrosage).xlsx]PivotData!PT_SalesCat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PivotData!$H$1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PivotData!$G$2:$G$3</c:f>
              <c:strCache>
                <c:ptCount val="1"/>
                <c:pt idx="0">
                  <c:v>Call</c:v>
                </c:pt>
              </c:strCache>
            </c:strRef>
          </c:cat>
          <c:val>
            <c:numRef>
              <c:f>PivotData!$H$2:$H$3</c:f>
              <c:numCache>
                <c:formatCode>General</c:formatCode>
                <c:ptCount val="1"/>
                <c:pt idx="0">
                  <c:v>6082.9166666666661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87-432C-9727-AD797B81E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1716080"/>
        <c:axId val="359625904"/>
      </c:barChart>
      <c:catAx>
        <c:axId val="411716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625904"/>
        <c:crosses val="autoZero"/>
        <c:auto val="1"/>
        <c:lblAlgn val="ctr"/>
        <c:lblOffset val="100"/>
        <c:noMultiLvlLbl val="0"/>
      </c:catAx>
      <c:valAx>
        <c:axId val="359625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171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(Astrosage).xlsx]PivotData!PT_Top10Gurus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Gurus by Call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PivotData!$BS$1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PivotData!$BR$2:$BR$12</c:f>
              <c:strCache>
                <c:ptCount val="10"/>
                <c:pt idx="0">
                  <c:v>Astro Lakshmi</c:v>
                </c:pt>
                <c:pt idx="1">
                  <c:v>Astro Sree Valli</c:v>
                </c:pt>
                <c:pt idx="2">
                  <c:v>Tarot Rupanshi</c:v>
                </c:pt>
                <c:pt idx="3">
                  <c:v>Tarot Surbi</c:v>
                </c:pt>
                <c:pt idx="4">
                  <c:v>Tarot Gauri</c:v>
                </c:pt>
                <c:pt idx="5">
                  <c:v>Dr Balkrisna</c:v>
                </c:pt>
                <c:pt idx="6">
                  <c:v>Astro Naksh</c:v>
                </c:pt>
                <c:pt idx="7">
                  <c:v>Tarot Seema</c:v>
                </c:pt>
                <c:pt idx="8">
                  <c:v>Astro Seema</c:v>
                </c:pt>
                <c:pt idx="9">
                  <c:v>Tarot Gargi</c:v>
                </c:pt>
              </c:strCache>
            </c:strRef>
          </c:cat>
          <c:val>
            <c:numRef>
              <c:f>PivotData!$BS$2:$BS$12</c:f>
              <c:numCache>
                <c:formatCode>General</c:formatCode>
                <c:ptCount val="10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20</c:v>
                </c:pt>
                <c:pt idx="5">
                  <c:v>21</c:v>
                </c:pt>
                <c:pt idx="6">
                  <c:v>23</c:v>
                </c:pt>
                <c:pt idx="7">
                  <c:v>28</c:v>
                </c:pt>
                <c:pt idx="8">
                  <c:v>31</c:v>
                </c:pt>
                <c:pt idx="9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07-4252-B4E0-D02FF2526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700255"/>
        <c:axId val="83699759"/>
      </c:barChart>
      <c:catAx>
        <c:axId val="1257002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699759"/>
        <c:crosses val="autoZero"/>
        <c:auto val="1"/>
        <c:lblAlgn val="ctr"/>
        <c:lblOffset val="100"/>
        <c:noMultiLvlLbl val="0"/>
      </c:catAx>
      <c:valAx>
        <c:axId val="83699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00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(Astrosage).xlsx]PivotData!PT_WebPie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Website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PivotData!$AC$1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DCA-464C-8D92-A5B2C66448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DCA-464C-8D92-A5B2C664489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DCA-464C-8D92-A5B2C66448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PivotData!$AB$2:$AB$3</c:f>
              <c:strCache>
                <c:ptCount val="1"/>
                <c:pt idx="0">
                  <c:v>app</c:v>
                </c:pt>
              </c:strCache>
            </c:strRef>
          </c:cat>
          <c:val>
            <c:numRef>
              <c:f>PivotData!$AC$2:$AC$3</c:f>
              <c:numCache>
                <c:formatCode>General</c:formatCode>
                <c:ptCount val="1"/>
                <c:pt idx="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CA-464C-8D92-A5B2C6644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AstroSage Call Center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Insights &amp; Dashboard</a:t>
            </a:r>
          </a:p>
          <a:p>
            <a:r>
              <a:t>Rahul</a:t>
            </a:r>
          </a:p>
          <a:p>
            <a:r>
              <a:t>Newton School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51000"/>
            <a:ext cx="6096000" cy="4525963"/>
          </a:xfrm>
        </p:spPr>
        <p:txBody>
          <a:bodyPr>
            <a:normAutofit fontScale="70000" lnSpcReduction="20000"/>
          </a:bodyPr>
          <a:lstStyle/>
          <a:p>
            <a:r>
              <a:t>About AstroSage Call Center:</a:t>
            </a:r>
          </a:p>
          <a:p>
            <a:pPr lvl="1"/>
            <a:r>
              <a:t>AstroSage offers astrological consultations via chat and call platforms.</a:t>
            </a:r>
          </a:p>
          <a:p>
            <a:r>
              <a:t>Business problem:</a:t>
            </a:r>
          </a:p>
          <a:p>
            <a:pPr lvl="1"/>
            <a:r>
              <a:t>Need to optimize operational efficiency and improve customer satisfaction (CSAT) ratings.</a:t>
            </a:r>
          </a:p>
          <a:p>
            <a:r>
              <a:t>Project objective:</a:t>
            </a:r>
          </a:p>
          <a:p>
            <a:pPr lvl="1"/>
            <a:r>
              <a:t>Analyze call volumes, guru performance, and identify trends across different websites and consultation types.</a:t>
            </a:r>
          </a:p>
          <a:p>
            <a:r>
              <a:t>What the dashboard aims to solve:</a:t>
            </a:r>
          </a:p>
          <a:p>
            <a:pPr lvl="1"/>
            <a:r>
              <a:t>Provide management with an interactive, real-time overview of call center metrics to drive data-driven staffing and operational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8BB78-A725-3229-E064-4DFEE24A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836"/>
            <a:ext cx="9144000" cy="3718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75709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Avg CSAT by Month.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8ED5B1-CBC8-3E9F-5DFA-B3FD9BDE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Avg CSAT by Month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2451E98-6641-4291-643D-0FEC23134A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358348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78297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Call Distribution by Hour.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FF458-F441-4D03-F2FE-057CF73C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Distribution by Hour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07BF171-E98F-00DD-3451-D58B31370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124076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86061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Call Status Distribution.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548D42-2E8C-46E7-7FB2-B6D05FA5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Status Distribution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6CB764D-9A7C-6D31-0309-571E71ED1C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682618"/>
              </p:ext>
            </p:extLst>
          </p:nvPr>
        </p:nvGraphicFramePr>
        <p:xfrm>
          <a:off x="254000" y="1651000"/>
          <a:ext cx="5715000" cy="309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667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Calls by Guru.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364052-13D5-8FF4-027A-C68D0A30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Calls by Guru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758CDEB-354A-2E3D-5687-D5334EAAC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2396249"/>
              </p:ext>
            </p:extLst>
          </p:nvPr>
        </p:nvGraphicFramePr>
        <p:xfrm>
          <a:off x="254000" y="1651000"/>
          <a:ext cx="5715000" cy="3100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54143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Calls by User ID.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D24DF1-2C9E-9188-9EC5-EF9DDEE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Calls by User ID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E1F6838-CB34-F246-FE19-4B33B8960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6689381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80885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Consultation Type.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933F98-4CD5-5AA0-D52A-79AB740E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Consultation Type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DAD5E6B-77EC-CCD7-9A74-811E46B6A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486018"/>
              </p:ext>
            </p:extLst>
          </p:nvPr>
        </p:nvGraphicFramePr>
        <p:xfrm>
          <a:off x="254000" y="1651000"/>
          <a:ext cx="5715000" cy="3102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80885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Daily Call Volume Trend.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C175E1-C88B-7EF8-DEBD-FF16FE4F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Daily Call Volume Trend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E8ED207-A3C8-AAD3-7E63-858422F69D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390703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78297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Monthly Call Volume.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72611-4E22-726E-AC90-1F45B324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Monthly Call Volume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7987F5B-6A3D-9FEA-3B7A-2E576FF4D8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4010257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73984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Op Cost by Month.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37229F-1850-F548-B0F0-1CF43A0E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 Cost by Month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0233431-3B2C-4CD6-A8A3-1731C0EA48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5149697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51000"/>
            <a:ext cx="6096000" cy="4525963"/>
          </a:xfrm>
        </p:spPr>
        <p:txBody>
          <a:bodyPr/>
          <a:lstStyle/>
          <a:p>
            <a:r>
              <a:t>The dataset contains 28,027 call records across various platforms and consultation 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51000"/>
            <a:ext cx="6096000" cy="4525963"/>
          </a:xfrm>
        </p:spPr>
        <p:txBody>
          <a:bodyPr/>
          <a:lstStyle/>
          <a:p>
            <a:r>
              <a:t>1. Data Cleaning</a:t>
            </a:r>
          </a:p>
          <a:p>
            <a:r>
              <a:t>2. Pivot Table Aggregation</a:t>
            </a:r>
          </a:p>
          <a:p>
            <a:r>
              <a:t>3. Dashboard Visualization</a:t>
            </a:r>
          </a:p>
          <a:p>
            <a:r>
              <a:t>4. Business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Ratingwise Guru Dist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30034" y="1651000"/>
            <a:ext cx="2713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</a:t>
            </a:r>
            <a:r>
              <a:rPr dirty="0" err="1"/>
              <a:t>Ratingwise</a:t>
            </a:r>
            <a:r>
              <a:rPr dirty="0"/>
              <a:t> Guru Dist.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51D7344-4E72-000D-3C59-9D04CF4BEA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464972"/>
              </p:ext>
            </p:extLst>
          </p:nvPr>
        </p:nvGraphicFramePr>
        <p:xfrm>
          <a:off x="457200" y="2004683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Ratingwise User Dist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30034" y="1875287"/>
            <a:ext cx="261907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</a:t>
            </a:r>
            <a:r>
              <a:rPr dirty="0" err="1"/>
              <a:t>Ratingwise</a:t>
            </a:r>
            <a:r>
              <a:rPr dirty="0"/>
              <a:t> User Dist.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4D4CC9-7C02-3768-C7B8-DF6823BBE3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959144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78297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Sales by Category.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ED7643-D16B-12EE-BD7E-6AC732AA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Sales by Category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116BDC8-94DC-B591-6201-DF06EE07BB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724385"/>
              </p:ext>
            </p:extLst>
          </p:nvPr>
        </p:nvGraphicFramePr>
        <p:xfrm>
          <a:off x="254000" y="1651000"/>
          <a:ext cx="5715000" cy="3100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667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Top 10 Gurus by Call Volume.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3007A6-FCE0-F8AF-4A54-8BC03C24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10 Gurus by Call Volume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9282A29-72E2-3A06-138E-D4D64FBE72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259519"/>
              </p:ext>
            </p:extLst>
          </p:nvPr>
        </p:nvGraphicFramePr>
        <p:xfrm>
          <a:off x="254000" y="1651000"/>
          <a:ext cx="5715000" cy="3096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23000" y="1651000"/>
            <a:ext cx="284336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Key Findings:</a:t>
            </a:r>
          </a:p>
          <a:p>
            <a:pPr>
              <a:defRPr sz="1600"/>
            </a:pPr>
            <a:r>
              <a:rPr dirty="0"/>
              <a:t>- This chart highlights the distribution and trends of Website Distribution.</a:t>
            </a:r>
          </a:p>
          <a:p>
            <a:pPr>
              <a:defRPr sz="1600"/>
            </a:pPr>
            <a:r>
              <a:rPr dirty="0"/>
              <a:t>- Provides actionable insights into operational performance.</a:t>
            </a:r>
          </a:p>
          <a:p>
            <a:pPr>
              <a:defRPr sz="1600"/>
            </a:pPr>
            <a:r>
              <a:rPr dirty="0"/>
              <a:t>- Management should focus on optimizing resources based on these metrics.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35C5EF-1585-0A68-40B9-E27EF1FE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 Distribution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35214D-7EFC-8C90-2CA9-F3B9C6543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9226475"/>
              </p:ext>
            </p:extLst>
          </p:nvPr>
        </p:nvGraphicFramePr>
        <p:xfrm>
          <a:off x="254000" y="1651000"/>
          <a:ext cx="5715000" cy="309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51000"/>
            <a:ext cx="6096000" cy="4525963"/>
          </a:xfrm>
        </p:spPr>
        <p:txBody>
          <a:bodyPr>
            <a:normAutofit fontScale="85000" lnSpcReduction="10000"/>
          </a:bodyPr>
          <a:lstStyle/>
          <a:p>
            <a:r>
              <a:t>Increase staffing during peak hours to handle higher call volumes.</a:t>
            </a:r>
          </a:p>
          <a:p>
            <a:r>
              <a:t>Improve routing for overloaded gurus to reduce wait times.</a:t>
            </a:r>
          </a:p>
          <a:p>
            <a:r>
              <a:t>Focus on high-CSAT consultation types to maximize customer satisfaction.</a:t>
            </a:r>
          </a:p>
          <a:p>
            <a:r>
              <a:t>Optimize operational costs by reallocating resources during off-peak times.</a:t>
            </a:r>
          </a:p>
          <a:p>
            <a:r>
              <a:t>Improve underperforming platforms by conducting targeted quality assurance.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651000"/>
            <a:ext cx="6096000" cy="4525963"/>
          </a:xfrm>
        </p:spPr>
        <p:txBody>
          <a:bodyPr>
            <a:normAutofit fontScale="92500" lnSpcReduction="20000"/>
          </a:bodyPr>
          <a:lstStyle/>
          <a:p>
            <a:r>
              <a:t>The dashboard provides a complete overview of call center performance.</a:t>
            </a:r>
          </a:p>
          <a:p>
            <a:r>
              <a:t>Peak periods and high-performing gurus were successfully identified.</a:t>
            </a:r>
          </a:p>
          <a:p>
            <a:r>
              <a:t>Data-driven recommendations can improve efficiency and customer satisfaction.</a:t>
            </a:r>
          </a:p>
          <a:p>
            <a:r>
              <a:t>The dashboard supports management decision-making and strategic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827</Words>
  <Application>Microsoft Office PowerPoint</Application>
  <PresentationFormat>On-screen Show (4:3)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AstroSage Call Center Performance Analysis</vt:lpstr>
      <vt:lpstr>Problem Statement</vt:lpstr>
      <vt:lpstr>Executive Dashboard Overview</vt:lpstr>
      <vt:lpstr>Avg CSAT by Month</vt:lpstr>
      <vt:lpstr>Call Distribution by Hour</vt:lpstr>
      <vt:lpstr>Call Status Distribution</vt:lpstr>
      <vt:lpstr>Calls by Guru</vt:lpstr>
      <vt:lpstr>Calls by User ID</vt:lpstr>
      <vt:lpstr>Consultation Type</vt:lpstr>
      <vt:lpstr>Daily Call Volume Trend</vt:lpstr>
      <vt:lpstr>Monthly Call Volume</vt:lpstr>
      <vt:lpstr>Op Cost by Month</vt:lpstr>
      <vt:lpstr>Dataset Overview</vt:lpstr>
      <vt:lpstr>Analysis Approach</vt:lpstr>
      <vt:lpstr>Ratingwise Guru Dist</vt:lpstr>
      <vt:lpstr>Ratingwise User Dist</vt:lpstr>
      <vt:lpstr>Sales by Category</vt:lpstr>
      <vt:lpstr>Top 10 Gurus by Call Volume</vt:lpstr>
      <vt:lpstr>Website Distribution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choudhary</cp:lastModifiedBy>
  <cp:revision>15</cp:revision>
  <dcterms:created xsi:type="dcterms:W3CDTF">2013-01-27T09:14:16Z</dcterms:created>
  <dcterms:modified xsi:type="dcterms:W3CDTF">2026-07-09T15:46:13Z</dcterms:modified>
  <cp:category/>
</cp:coreProperties>
</file>